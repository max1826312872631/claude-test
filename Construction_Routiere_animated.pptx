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592e15c-6a7b-d2e1-1e9c-df2a910a02aa}">
          <p14:sldIdLst>
            <p14:sldId id="256"/>
            <p14:sldId id="257"/>
          </p14:sldIdLst>
        </p14:section>
        <p14:section name="Phase Initiale" id="{3546c881-0fea-a27e-59c1-953c1dba6357}">
          <p14:sldIdLst>
            <p14:sldId id="258"/>
            <p14:sldId id="259"/>
            <p14:sldId id="260"/>
            <p14:sldId id="261"/>
          </p14:sldIdLst>
        </p14:section>
        <p14:section name="Préparation Sol" id="{9d51638c-d6a7-3786-6c8a-3fb0526660bd}">
          <p14:sldIdLst>
            <p14:sldId id="262"/>
            <p14:sldId id="263"/>
          </p14:sldIdLst>
        </p14:section>
        <p14:section name="Chaussée" id="{21b861d7-c6a4-37b7-5849-f541278bb234}">
          <p14:sldIdLst>
            <p14:sldId id="264"/>
            <p14:sldId id="265"/>
            <p14:sldId id="266"/>
            <p14:sldId id="267"/>
            <p14:sldId id="268"/>
          </p14:sldIdLst>
        </p14:section>
        <p14:section name="Aménagements" id="{67115c56-76a7-f357-6d73-5abb83f0e4b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EXT_LEF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EXT_RIGHT-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ENSE-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MAP-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1874520"/>
            <a:ext cx="4206240" cy="13716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914400" y="3337560"/>
            <a:ext cx="3840480" cy="73152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_LEF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68680" y="1097280"/>
            <a:ext cx="3931920" cy="10515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868680" y="2240280"/>
            <a:ext cx="3931920" cy="2194560"/>
          </a:xfrm>
          <a:prstGeom prst="rect">
            <a:avLst/>
          </a:prstGeom>
          <a:noFill/>
          <a:ln/>
        </p:spPr>
        <p:txBody>
          <a:bodyPr wrap="square" rtlCol="0"/>
          <a:lstStyle>
            <a:lvl1pPr algn="l" indent="0" marL="0">
              <a:buNone/>
              <a:defRPr lang="en-US" sz="1400" dirty="0">
                <a:solidFill>
                  <a:schemeClr val="tx2"/>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_R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0" y="1097280"/>
            <a:ext cx="3749040" cy="10515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572000" y="2240280"/>
            <a:ext cx="3749040" cy="2194560"/>
          </a:xfrm>
          <a:prstGeom prst="rect">
            <a:avLst/>
          </a:prstGeom>
          <a:noFill/>
          <a:ln/>
        </p:spPr>
        <p:txBody>
          <a:bodyPr wrap="square" rtlCol="0"/>
          <a:lstStyle>
            <a:lvl1pPr algn="l" indent="0" marL="0">
              <a:buNone/>
              <a:defRPr lang="en-US" sz="1400" dirty="0">
                <a:solidFill>
                  <a:schemeClr val="tx2"/>
                </a:solidFill>
              </a:defRPr>
            </a:lvl1pPr>
          </a:lstStyle>
          <a:p>
            <a:pPr algn="l" indent="0" marL="0">
              <a:buNone/>
            </a:pPr>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N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4572000"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ph idx="101" type="body" hasCustomPrompt="1"/>
          </p:nvPr>
        </p:nvSpPr>
        <p:spPr>
          <a:xfrm>
            <a:off x="822960" y="1554480"/>
            <a:ext cx="4572000" cy="3017520"/>
          </a:xfrm>
          <a:prstGeom prst="rect">
            <a:avLst/>
          </a:prstGeom>
          <a:noFill/>
          <a:ln/>
        </p:spPr>
        <p:txBody>
          <a:bodyPr wrap="square" rtlCol="0"/>
          <a:lstStyle>
            <a:lvl1pPr algn="l" indent="0" marL="0">
              <a:buNone/>
              <a:defRPr lang="en-US" sz="1400" dirty="0">
                <a:solidFill>
                  <a:schemeClr val="tx2"/>
                </a:solidFill>
              </a:defRPr>
            </a:lvl1pPr>
          </a:lstStyle>
          <a:p>
            <a:pPr algn="l" indent="0" marL="0">
              <a:buNone/>
            </a:pPr>
            <a:endParaRPr 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AP">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6.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914400" y="1508760"/>
            <a:ext cx="41148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GÉNIE CIVIL • OCTOBRE 2026</a:t>
            </a:r>
            <a:endParaRPr lang="en-US" sz="1100" dirty="0"/>
          </a:p>
        </p:txBody>
      </p:sp>
      <p:sp>
        <p:nvSpPr>
          <p:cNvPr id="3" name="Text 0"/>
          <p:cNvSpPr/>
          <p:nvPr>
            <p:ph idx="100" type="title" hasCustomPrompt="1"/>
          </p:nvPr>
        </p:nvSpPr>
        <p:spPr>
          <a:xfrm>
            <a:off x="914400" y="1874520"/>
            <a:ext cx="4206240" cy="1371600"/>
          </a:xfrm>
          <a:prstGeom prst="rect">
            <a:avLst/>
          </a:prstGeom>
          <a:noFill/>
          <a:ln/>
        </p:spPr>
        <p:txBody>
          <a:bodyPr wrap="square" lIns="0" tIns="0" rIns="0" bIns="0" rtlCol="0" anchor="t"/>
          <a:lstStyle/>
          <a:p>
            <a:pPr algn="l" indent="0" marL="0">
              <a:buNone/>
            </a:pPr>
            <a:r>
              <a:rPr lang="en-US" sz="4000" b="1" dirty="0">
                <a:solidFill>
                  <a:schemeClr val="tx1"/>
                </a:solidFill>
              </a:rPr>
              <a:t>La Construction Routière</a:t>
            </a:r>
            <a:endParaRPr lang="en-US" sz="4000" dirty="0"/>
          </a:p>
        </p:txBody>
      </p:sp>
      <p:sp>
        <p:nvSpPr>
          <p:cNvPr id="4" name="Text 0"/>
          <p:cNvSpPr/>
          <p:nvPr>
            <p:ph idx="101" type="body" hasCustomPrompt="1"/>
          </p:nvPr>
        </p:nvSpPr>
        <p:spPr>
          <a:xfrm>
            <a:off x="914400" y="3337560"/>
            <a:ext cx="3840480" cy="731520"/>
          </a:xfrm>
          <a:prstGeom prst="rect">
            <a:avLst/>
          </a:prstGeom>
          <a:noFill/>
          <a:ln/>
        </p:spPr>
        <p:txBody>
          <a:bodyPr wrap="square" lIns="0" tIns="0" rIns="0" bIns="0" rtlCol="0" anchor="t"/>
          <a:lstStyle/>
          <a:p>
            <a:pPr algn="l" indent="0" marL="0">
              <a:buNone/>
            </a:pPr>
            <a:r>
              <a:rPr lang="en-US" sz="1600" dirty="0">
                <a:solidFill>
                  <a:schemeClr val="tx2"/>
                </a:solidFill>
              </a:rPr>
              <a:t>Guide technique complet des étapes de réalisation.</a:t>
            </a:r>
            <a:endParaRPr lang="en-US" sz="1600" dirty="0"/>
          </a:p>
        </p:txBody>
      </p:sp>
      <p:pic>
        <p:nvPicPr>
          <p:cNvPr id="5" name="Illustration" descr="Illustration">    </p:cNvPr>
          <p:cNvPicPr>
            <a:picLocks noChangeAspect="1"/>
          </p:cNvPicPr>
          <p:nvPr/>
        </p:nvPicPr>
        <p:blipFill>
          <a:blip r:embed="rId1"/>
          <a:stretch>
            <a:fillRect/>
          </a:stretch>
        </p:blipFill>
        <p:spPr>
          <a:xfrm>
            <a:off x="5394960" y="711982"/>
            <a:ext cx="3017520" cy="3696677"/>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Carte du plan" descr="Plan : Phase initiale, Préparation du sol, Chaussée, Aménagements">    </p:cNvPr>
          <p:cNvPicPr>
            <a:picLocks noChangeAspect="1"/>
          </p:cNvPicPr>
          <p:nvPr/>
        </p:nvPicPr>
        <p:blipFill>
          <a:blip r:embed="rId1"/>
          <a:stretch>
            <a:fillRect/>
          </a:stretch>
        </p:blipFill>
        <p:spPr>
          <a:xfrm>
            <a:off x="0" y="371246"/>
            <a:ext cx="9144000" cy="440055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86868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01 • INTRODUCTION</a:t>
            </a:r>
            <a:endParaRPr lang="en-US" sz="1100" dirty="0"/>
          </a:p>
        </p:txBody>
      </p:sp>
      <p:sp>
        <p:nvSpPr>
          <p:cNvPr id="3" name="Text 0"/>
          <p:cNvSpPr/>
          <p:nvPr>
            <p:ph idx="100" type="title" hasCustomPrompt="1"/>
          </p:nvPr>
        </p:nvSpPr>
        <p:spPr>
          <a:xfrm>
            <a:off x="868680" y="1097280"/>
            <a:ext cx="3931920" cy="1051560"/>
          </a:xfrm>
          <a:prstGeom prst="rect">
            <a:avLst/>
          </a:prstGeom>
          <a:noFill/>
          <a:ln/>
        </p:spPr>
        <p:txBody>
          <a:bodyPr wrap="square" lIns="0" tIns="0" rIns="0" bIns="0" rtlCol="0" anchor="t"/>
          <a:lstStyle/>
          <a:p>
            <a:pPr algn="l" indent="0" marL="0">
              <a:buNone/>
            </a:pPr>
            <a:r>
              <a:rPr lang="en-US" sz="3200" b="1" dirty="0">
                <a:solidFill>
                  <a:schemeClr val="tx1"/>
                </a:solidFill>
              </a:rPr>
              <a:t>Rôle et Importance</a:t>
            </a:r>
            <a:endParaRPr lang="en-US" sz="3200" dirty="0"/>
          </a:p>
        </p:txBody>
      </p:sp>
      <p:sp>
        <p:nvSpPr>
          <p:cNvPr id="4" name="Text 0"/>
          <p:cNvSpPr/>
          <p:nvPr>
            <p:ph idx="101" type="body" hasCustomPrompt="1"/>
          </p:nvPr>
        </p:nvSpPr>
        <p:spPr>
          <a:xfrm>
            <a:off x="868680" y="2240280"/>
            <a:ext cx="3931920" cy="2194560"/>
          </a:xfrm>
          <a:prstGeom prst="rect">
            <a:avLst/>
          </a:prstGeom>
          <a:noFill/>
          <a:ln/>
        </p:spPr>
        <p:txBody>
          <a:bodyPr wrap="square" lIns="0" tIns="0" rIns="0" bIns="0" rtlCol="0" anchor="t"/>
          <a:lstStyle/>
          <a:p>
            <a:pPr algn="l" indent="0" marL="0">
              <a:spcAft>
                <a:spcPts val="1000"/>
              </a:spcAft>
              <a:buNone/>
            </a:pPr>
            <a:r>
              <a:rPr lang="en-US" sz="1400" dirty="0">
                <a:solidFill>
                  <a:schemeClr val="tx2"/>
                </a:solidFill>
              </a:rPr>
              <a:t>Les routes sont des infrastructures essentielles qui connectent les personnes, les biens et les services.</a:t>
            </a:r>
            <a:endParaRPr lang="en-US" sz="1400" dirty="0"/>
          </a:p>
          <a:p>
            <a:pPr algn="l" indent="0" marL="0">
              <a:spcAft>
                <a:spcPts val="1000"/>
              </a:spcAft>
              <a:buNone/>
            </a:pPr>
            <a:r>
              <a:rPr lang="en-US" sz="1400" dirty="0">
                <a:solidFill>
                  <a:schemeClr val="tx2"/>
                </a:solidFill>
              </a:rPr>
              <a:t>Elles jouent un rôle crucial dans le développement économique et social d'une région, facilitant le transport, le commerce et l'accès aux opportunités.</a:t>
            </a:r>
            <a:endParaRPr lang="en-US" sz="1400" dirty="0"/>
          </a:p>
        </p:txBody>
      </p:sp>
      <p:pic>
        <p:nvPicPr>
          <p:cNvPr id="5" name="Illustration" descr="Illustration">    </p:cNvPr>
          <p:cNvPicPr>
            <a:picLocks noChangeAspect="1"/>
          </p:cNvPicPr>
          <p:nvPr/>
        </p:nvPicPr>
        <p:blipFill>
          <a:blip r:embed="rId1"/>
          <a:stretch>
            <a:fillRect/>
          </a:stretch>
        </p:blipFill>
        <p:spPr>
          <a:xfrm>
            <a:off x="5551520" y="640080"/>
            <a:ext cx="2430080" cy="3840480"/>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02 • CLASSIFICATION</a:t>
            </a:r>
            <a:endParaRPr lang="en-US" sz="1100" dirty="0"/>
          </a:p>
        </p:txBody>
      </p:sp>
      <p:sp>
        <p:nvSpPr>
          <p:cNvPr id="3" name="Text 0"/>
          <p:cNvSpPr/>
          <p:nvPr>
            <p:ph idx="100" type="title" hasCustomPrompt="1"/>
          </p:nvPr>
        </p:nvSpPr>
        <p:spPr>
          <a:xfrm>
            <a:off x="4572000" y="1097280"/>
            <a:ext cx="3749040" cy="1051560"/>
          </a:xfrm>
          <a:prstGeom prst="rect">
            <a:avLst/>
          </a:prstGeom>
          <a:noFill/>
          <a:ln/>
        </p:spPr>
        <p:txBody>
          <a:bodyPr wrap="square" lIns="0" tIns="0" rIns="0" bIns="0" rtlCol="0" anchor="t"/>
          <a:lstStyle/>
          <a:p>
            <a:pPr algn="l" indent="0" marL="0">
              <a:buNone/>
            </a:pPr>
            <a:r>
              <a:rPr lang="en-US" sz="3200" b="1" dirty="0">
                <a:solidFill>
                  <a:schemeClr val="tx1"/>
                </a:solidFill>
              </a:rPr>
              <a:t>Classification des Infrastructures</a:t>
            </a:r>
            <a:endParaRPr lang="en-US" sz="3200" dirty="0"/>
          </a:p>
        </p:txBody>
      </p:sp>
      <p:sp>
        <p:nvSpPr>
          <p:cNvPr id="4" name="Text 0"/>
          <p:cNvSpPr/>
          <p:nvPr>
            <p:ph idx="101" type="body" hasCustomPrompt="1"/>
          </p:nvPr>
        </p:nvSpPr>
        <p:spPr>
          <a:xfrm>
            <a:off x="4572000" y="2240280"/>
            <a:ext cx="3749040" cy="2194560"/>
          </a:xfrm>
          <a:prstGeom prst="rect">
            <a:avLst/>
          </a:prstGeom>
          <a:noFill/>
          <a:ln/>
        </p:spPr>
        <p:txBody>
          <a:bodyPr wrap="square" lIns="0" tIns="0" rIns="0" bIns="0" rtlCol="0" anchor="t"/>
          <a:lstStyle/>
          <a:p>
            <a:pPr algn="l" indent="0" marL="0">
              <a:spcAft>
                <a:spcPts val="1000"/>
              </a:spcAft>
              <a:buNone/>
            </a:pPr>
            <a:r>
              <a:rPr lang="en-US" sz="1400" dirty="0">
                <a:solidFill>
                  <a:schemeClr val="tx2"/>
                </a:solidFill>
              </a:rPr>
              <a:t>Les routes sont classées selon leur fonction et leur importance.</a:t>
            </a:r>
            <a:endParaRPr lang="en-US" sz="1400" dirty="0"/>
          </a:p>
          <a:p>
            <a:pPr algn="l" indent="0" marL="0">
              <a:spcAft>
                <a:spcPts val="1000"/>
              </a:spcAft>
              <a:buNone/>
            </a:pPr>
            <a:r>
              <a:rPr lang="en-US" sz="1400" dirty="0">
                <a:solidFill>
                  <a:schemeClr val="tx2"/>
                </a:solidFill>
              </a:rPr>
              <a:t>Cette classification guide leur conception et leur dimensionnement.</a:t>
            </a:r>
            <a:endParaRPr lang="en-US" sz="1400" dirty="0"/>
          </a:p>
        </p:txBody>
      </p:sp>
      <p:pic>
        <p:nvPicPr>
          <p:cNvPr id="5" name="Illustration" descr="Illustration">    </p:cNvPr>
          <p:cNvPicPr>
            <a:picLocks noChangeAspect="1"/>
          </p:cNvPicPr>
          <p:nvPr/>
        </p:nvPicPr>
        <p:blipFill>
          <a:blip r:embed="rId1"/>
          <a:stretch>
            <a:fillRect/>
          </a:stretch>
        </p:blipFill>
        <p:spPr>
          <a:xfrm>
            <a:off x="1248598" y="640080"/>
            <a:ext cx="2440563" cy="3840480"/>
          </a:xfrm>
          <a:prstGeom prst="rect">
            <a:avLst/>
          </a:prstGeom>
        </p:spPr>
      </p:pic>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03 • PRÉPARATION</a:t>
            </a:r>
            <a:endParaRPr lang="en-US" sz="1100" dirty="0"/>
          </a:p>
        </p:txBody>
      </p:sp>
      <p:sp>
        <p:nvSpPr>
          <p:cNvPr id="3" name="Text 0"/>
          <p:cNvSpPr/>
          <p:nvPr>
            <p:ph idx="100" type="title" hasCustomPrompt="1"/>
          </p:nvPr>
        </p:nvSpPr>
        <p:spPr>
          <a:xfrm>
            <a:off x="4572000" y="1097280"/>
            <a:ext cx="3749040" cy="1051560"/>
          </a:xfrm>
          <a:prstGeom prst="rect">
            <a:avLst/>
          </a:prstGeom>
          <a:noFill/>
          <a:ln/>
        </p:spPr>
        <p:txBody>
          <a:bodyPr wrap="square" lIns="0" tIns="0" rIns="0" bIns="0" rtlCol="0" anchor="t"/>
          <a:lstStyle/>
          <a:p>
            <a:pPr algn="l" indent="0" marL="0">
              <a:buNone/>
            </a:pPr>
            <a:r>
              <a:rPr lang="en-US" sz="3200" b="1" dirty="0">
                <a:solidFill>
                  <a:schemeClr val="tx1"/>
                </a:solidFill>
              </a:rPr>
              <a:t>Installation du Chantier</a:t>
            </a:r>
            <a:endParaRPr lang="en-US" sz="3200" dirty="0"/>
          </a:p>
        </p:txBody>
      </p:sp>
      <p:sp>
        <p:nvSpPr>
          <p:cNvPr id="4" name="Text 0"/>
          <p:cNvSpPr/>
          <p:nvPr>
            <p:ph idx="101" type="body" hasCustomPrompt="1"/>
          </p:nvPr>
        </p:nvSpPr>
        <p:spPr>
          <a:xfrm>
            <a:off x="4572000" y="2240280"/>
            <a:ext cx="3749040" cy="2194560"/>
          </a:xfrm>
          <a:prstGeom prst="rect">
            <a:avLst/>
          </a:prstGeom>
          <a:noFill/>
          <a:ln/>
        </p:spPr>
        <p:txBody>
          <a:bodyPr wrap="square" lIns="0" tIns="0" rIns="0" bIns="0" rtlCol="0" anchor="t"/>
          <a:lstStyle/>
          <a:p>
            <a:pPr algn="l" marL="342900" indent="-342900">
              <a:spcAft>
                <a:spcPts val="300"/>
              </a:spcAft>
              <a:buSzPct val="100000"/>
              <a:buChar char="•"/>
            </a:pPr>
            <a:r>
              <a:rPr lang="en-US" sz="1100" dirty="0">
                <a:solidFill>
                  <a:schemeClr val="tx2"/>
                </a:solidFill>
              </a:rPr>
              <a:t>L'installation du chantier est la première étape concrète visant à préparer le site pour les travaux à venir.</a:t>
            </a:r>
            <a:endParaRPr lang="en-US" sz="1400" dirty="0"/>
          </a:p>
          <a:p>
            <a:pPr algn="l" marL="342900" indent="-342900">
              <a:spcAft>
                <a:spcPts val="300"/>
              </a:spcAft>
              <a:buSzPct val="100000"/>
              <a:buChar char="•"/>
            </a:pPr>
            <a:r>
              <a:rPr lang="en-US" sz="1100" dirty="0">
                <a:solidFill>
                  <a:schemeClr val="tx2"/>
                </a:solidFill>
              </a:rPr>
              <a:t>Cela inclut le nettoyage de la zone, la mise en place des accès et l'installation des bureaux et zones de stockage.</a:t>
            </a:r>
            <a:endParaRPr lang="en-US" sz="1400" dirty="0"/>
          </a:p>
          <a:p>
            <a:pPr algn="l" marL="342900" indent="-342900">
              <a:spcAft>
                <a:spcPts val="300"/>
              </a:spcAft>
              <a:buSzPct val="100000"/>
              <a:buChar char="•"/>
            </a:pPr>
            <a:r>
              <a:rPr lang="en-US" sz="1100" dirty="0">
                <a:solidFill>
                  <a:schemeClr val="tx2"/>
                </a:solidFill>
              </a:rPr>
              <a:t>Les matériaux temporaires et les engins lourds comme les bulldozers et les pelles sont mobilisés sur le terrain.</a:t>
            </a:r>
            <a:endParaRPr lang="en-US" sz="1400" dirty="0"/>
          </a:p>
          <a:p>
            <a:pPr algn="l" marL="342900" indent="-342900">
              <a:spcAft>
                <a:spcPts val="300"/>
              </a:spcAft>
              <a:buSzPct val="100000"/>
              <a:buChar char="•"/>
            </a:pPr>
            <a:r>
              <a:rPr lang="en-US" sz="1100" dirty="0">
                <a:solidFill>
                  <a:schemeClr val="tx2"/>
                </a:solidFill>
              </a:rPr>
              <a:t>Des contrôles rigoureux sont effectués pour garantir la sécurité totale et la conformité réglementaire du site.</a:t>
            </a:r>
            <a:endParaRPr lang="en-US" sz="1400" dirty="0"/>
          </a:p>
        </p:txBody>
      </p:sp>
      <p:pic>
        <p:nvPicPr>
          <p:cNvPr id="5" name="Illustration" descr="Illustration">    </p:cNvPr>
          <p:cNvPicPr>
            <a:picLocks noChangeAspect="1"/>
          </p:cNvPicPr>
          <p:nvPr/>
        </p:nvPicPr>
        <p:blipFill>
          <a:blip r:embed="rId1"/>
          <a:stretch>
            <a:fillRect/>
          </a:stretch>
        </p:blipFill>
        <p:spPr>
          <a:xfrm>
            <a:off x="685800" y="939338"/>
            <a:ext cx="3566160" cy="324196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4572000" cy="868680"/>
          </a:xfrm>
          <a:prstGeom prst="rect">
            <a:avLst/>
          </a:prstGeom>
          <a:noFill/>
          <a:ln/>
        </p:spPr>
        <p:txBody>
          <a:bodyPr wrap="square" lIns="0" tIns="0" rIns="0" bIns="0" rtlCol="0" anchor="t"/>
          <a:lstStyle/>
          <a:p>
            <a:pPr algn="l" indent="0" marL="0">
              <a:buNone/>
            </a:pPr>
            <a:r>
              <a:rPr lang="en-US" sz="2600" b="1" dirty="0">
                <a:solidFill>
                  <a:schemeClr val="tx1"/>
                </a:solidFill>
              </a:rPr>
              <a:t>Les Études Préalables : La Conception</a:t>
            </a:r>
            <a:endParaRPr lang="en-US" sz="2600" dirty="0"/>
          </a:p>
        </p:txBody>
      </p:sp>
      <p:sp>
        <p:nvSpPr>
          <p:cNvPr id="3" name="Text 0"/>
          <p:cNvSpPr/>
          <p:nvPr>
            <p:ph idx="101" type="body" hasCustomPrompt="1"/>
          </p:nvPr>
        </p:nvSpPr>
        <p:spPr>
          <a:xfrm>
            <a:off x="822960" y="1554480"/>
            <a:ext cx="4572000" cy="3017520"/>
          </a:xfrm>
          <a:prstGeom prst="rect">
            <a:avLst/>
          </a:prstGeom>
          <a:noFill/>
          <a:ln/>
        </p:spPr>
        <p:txBody>
          <a:bodyPr wrap="square" lIns="0" tIns="0" rIns="0" bIns="0" rtlCol="0" anchor="t"/>
          <a:lstStyle/>
          <a:p>
            <a:pPr algn="l" indent="0" marL="0">
              <a:buNone/>
            </a:pPr>
            <a:r>
              <a:rPr lang="en-US" sz="1200" b="1" dirty="0">
                <a:solidFill>
                  <a:schemeClr val="tx1"/>
                </a:solidFill>
              </a:rPr>
              <a:t>Topographie : </a:t>
            </a:r>
            <a:pPr algn="l" indent="0" marL="0">
              <a:spcAft>
                <a:spcPts val="800"/>
              </a:spcAft>
              <a:buNone/>
            </a:pPr>
            <a:r>
              <a:rPr lang="en-US" sz="1200" dirty="0">
                <a:solidFill>
                  <a:schemeClr val="tx2"/>
                </a:solidFill>
              </a:rPr>
              <a:t>Cartographie du terrain existant pour définir les reliefs, les courbes de niveau et les éléments naturels. Essentiel pour établir le tracé précis de la route.</a:t>
            </a:r>
            <a:endParaRPr lang="en-US" sz="1400" dirty="0"/>
          </a:p>
          <a:p>
            <a:pPr algn="l" indent="0" marL="0">
              <a:buNone/>
            </a:pPr>
            <a:r>
              <a:rPr lang="en-US" sz="1200" b="1" dirty="0">
                <a:solidFill>
                  <a:schemeClr val="tx1"/>
                </a:solidFill>
              </a:rPr>
              <a:t>Géotechnique : </a:t>
            </a:r>
            <a:pPr algn="l" indent="0" marL="0">
              <a:spcAft>
                <a:spcPts val="800"/>
              </a:spcAft>
              <a:buNone/>
            </a:pPr>
            <a:r>
              <a:rPr lang="en-US" sz="1200" dirty="0">
                <a:solidFill>
                  <a:schemeClr val="tx2"/>
                </a:solidFill>
              </a:rPr>
              <a:t>Analyse de la portance et de la résistance du sol. Détermine la stabilité des terrains et la présence de nappes pour le dimensionnement des chaussées.</a:t>
            </a:r>
            <a:endParaRPr lang="en-US" sz="1400" dirty="0"/>
          </a:p>
          <a:p>
            <a:pPr algn="l" indent="0" marL="0">
              <a:buNone/>
            </a:pPr>
            <a:r>
              <a:rPr lang="en-US" sz="1200" b="1" dirty="0">
                <a:solidFill>
                  <a:schemeClr val="tx1"/>
                </a:solidFill>
              </a:rPr>
              <a:t>Trafic : </a:t>
            </a:r>
            <a:pPr algn="l" indent="0" marL="0">
              <a:spcAft>
                <a:spcPts val="800"/>
              </a:spcAft>
              <a:buNone/>
            </a:pPr>
            <a:r>
              <a:rPr lang="en-US" sz="1200" dirty="0">
                <a:solidFill>
                  <a:schemeClr val="tx2"/>
                </a:solidFill>
              </a:rPr>
              <a:t>Évaluation du volume et de la nature des véhicules. Permet de prévoir l'évolution future et de dimensionner le nombre de voies et la largeur requise.</a:t>
            </a:r>
            <a:pPr algn="l" indent="0" marL="0">
              <a:buNone/>
            </a:pPr>
            <a:endParaRPr lang="en-US" sz="1400" dirty="0"/>
          </a:p>
          <a:p>
            <a:pPr algn="l" indent="0" marL="0">
              <a:buNone/>
            </a:pPr>
            <a:r>
              <a:rPr lang="en-US" sz="1200" dirty="0">
                <a:solidFill>
                  <a:schemeClr val="accent2"/>
                </a:solidFill>
              </a:rPr>
              <a:t>Ces étapes garantissent la faisabilité technique, la sécurité et la durabilité du projet tout en minimisant les risques d'imprévus coûteux lors de la construction.</a:t>
            </a:r>
            <a:endParaRPr lang="en-US" sz="1400" dirty="0"/>
          </a:p>
        </p:txBody>
      </p:sp>
      <p:pic>
        <p:nvPicPr>
          <p:cNvPr id="4" name="Illustration" descr="Illustration">    </p:cNvPr>
          <p:cNvPicPr>
            <a:picLocks noChangeAspect="1"/>
          </p:cNvPicPr>
          <p:nvPr/>
        </p:nvPicPr>
        <p:blipFill>
          <a:blip r:embed="rId1"/>
          <a:stretch>
            <a:fillRect/>
          </a:stretch>
        </p:blipFill>
        <p:spPr>
          <a:xfrm>
            <a:off x="5623560" y="1332750"/>
            <a:ext cx="2834640" cy="245513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p:tgtEl>
                                                <p:spTgt spid="2"/>
                                              </p:tgtEl>
                                              <p:attrNameLst>
                                                <p:attrName>ppt_x</p:attrName>
                                              </p:attrNameLst>
                                            </p:cBhvr>
                                            <p:tavLst>
                                              <p:tav tm="0">
                                                <p:val>
                                                  <p:strVal val="0-#ppt_w/2"/>
                                                </p:val>
                                              </p:tav>
                                              <p:tav tm="100000">
                                                <p:val>
                                                  <p:strVal val="#ppt_x"/>
                                                </p:val>
                                              </p:tav>
                                            </p:tavLst>
                                          </p:anim>
                                          <p:anim calcmode="lin" valueType="num">
                                            <p:cBhvr additive="base">
                                              <p:cTn id="8" dur="6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9" fill="hold">
                                  <p:stCondLst>
                                    <p:cond delay="1300"/>
                                  </p:stCondLst>
                                  <p:childTnLst>
                                    <p:par>
                                      <p:cTn id="14" presetID="53" presetClass="entr" presetSubtype="16"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600" fill="hold"/>
                                              <p:tgtEl>
                                                <p:spTgt spid="4"/>
                                              </p:tgtEl>
                                              <p:attrNameLst>
                                                <p:attrName>ppt_w</p:attrName>
                                              </p:attrNameLst>
                                            </p:cBhvr>
                                            <p:tavLst>
                                              <p:tav tm="0">
                                                <p:val>
                                                  <p:strVal val="0"/>
                                                </p:val>
                                              </p:tav>
                                              <p:tav tm="100000">
                                                <p:val>
                                                  <p:strVal val="#ppt_w"/>
                                                </p:val>
                                              </p:tav>
                                            </p:tavLst>
                                          </p:anim>
                                          <p:anim calcmode="lin" valueType="num">
                                            <p:cBhvr additive="base">
                                              <p:cTn id="17" dur="600" fill="hold"/>
                                              <p:tgtEl>
                                                <p:spTgt spid="4"/>
                                              </p:tgtEl>
                                              <p:attrNameLst>
                                                <p:attrName>ppt_h</p:attrName>
                                              </p:attrNameLst>
                                            </p:cBhvr>
                                            <p:tavLst>
                                              <p:tav tm="0">
                                                <p:val>
                                                  <p:strVal val="0"/>
                                                </p:val>
                                              </p:tav>
                                              <p:tav tm="100000">
                                                <p:val>
                                                  <p:strVal val="#ppt_h"/>
                                                </p:val>
                                              </p:tav>
                                            </p:tavLst>
                                          </p:anim>
                                          <p:animEffect transition="in" filter="fade">
                                            <p:cBhvr>
                                              <p:cTn id="18" dur="600"/>
                                              <p:tgtEl>
                                                <p:spTgt spid="4"/>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86868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04 • TERRASSEMENT</a:t>
            </a:r>
            <a:endParaRPr lang="en-US" sz="1100" dirty="0"/>
          </a:p>
        </p:txBody>
      </p:sp>
      <p:sp>
        <p:nvSpPr>
          <p:cNvPr id="3" name="Text 0"/>
          <p:cNvSpPr/>
          <p:nvPr>
            <p:ph idx="100" type="title" hasCustomPrompt="1"/>
          </p:nvPr>
        </p:nvSpPr>
        <p:spPr>
          <a:xfrm>
            <a:off x="868680" y="1097280"/>
            <a:ext cx="3931920" cy="1051560"/>
          </a:xfrm>
          <a:prstGeom prst="rect">
            <a:avLst/>
          </a:prstGeom>
          <a:noFill/>
          <a:ln/>
        </p:spPr>
        <p:txBody>
          <a:bodyPr wrap="square" lIns="0" tIns="0" rIns="0" bIns="0" rtlCol="0" anchor="t"/>
          <a:lstStyle/>
          <a:p>
            <a:pPr algn="l" indent="0" marL="0">
              <a:buNone/>
            </a:pPr>
            <a:r>
              <a:rPr lang="en-US" sz="3200" b="1" dirty="0">
                <a:solidFill>
                  <a:schemeClr val="tx1"/>
                </a:solidFill>
              </a:rPr>
              <a:t>Déblais et Remblais</a:t>
            </a:r>
            <a:endParaRPr lang="en-US" sz="3200" dirty="0"/>
          </a:p>
        </p:txBody>
      </p:sp>
      <p:sp>
        <p:nvSpPr>
          <p:cNvPr id="4" name="Text 0"/>
          <p:cNvSpPr/>
          <p:nvPr>
            <p:ph idx="101" type="body" hasCustomPrompt="1"/>
          </p:nvPr>
        </p:nvSpPr>
        <p:spPr>
          <a:xfrm>
            <a:off x="868680" y="2240280"/>
            <a:ext cx="3931920" cy="2194560"/>
          </a:xfrm>
          <a:prstGeom prst="rect">
            <a:avLst/>
          </a:prstGeom>
          <a:noFill/>
          <a:ln/>
        </p:spPr>
        <p:txBody>
          <a:bodyPr wrap="square" lIns="0" tIns="0" rIns="0" bIns="0" rtlCol="0" anchor="t"/>
          <a:lstStyle/>
          <a:p>
            <a:pPr algn="l" indent="0" marL="0">
              <a:spcAft>
                <a:spcPts val="1000"/>
              </a:spcAft>
              <a:buNone/>
            </a:pPr>
            <a:r>
              <a:rPr lang="en-US" sz="1400" dirty="0">
                <a:solidFill>
                  <a:schemeClr val="tx2"/>
                </a:solidFill>
              </a:rPr>
              <a:t>Les déblais consistent à enlever la terre excédentaire.</a:t>
            </a:r>
            <a:endParaRPr lang="en-US" sz="1400" dirty="0"/>
          </a:p>
          <a:p>
            <a:pPr algn="l" indent="0" marL="0">
              <a:spcAft>
                <a:spcPts val="1000"/>
              </a:spcAft>
              <a:buNone/>
            </a:pPr>
            <a:r>
              <a:rPr lang="en-US" sz="1400" dirty="0">
                <a:solidFill>
                  <a:schemeClr val="tx2"/>
                </a:solidFill>
              </a:rPr>
              <a:t>Les remblais consistent à ajouter de la terre pour combler les dépressions.</a:t>
            </a:r>
            <a:endParaRPr lang="en-US" sz="1400" dirty="0"/>
          </a:p>
          <a:p>
            <a:pPr algn="l" indent="0" marL="0">
              <a:spcAft>
                <a:spcPts val="1000"/>
              </a:spcAft>
              <a:buNone/>
            </a:pPr>
            <a:r>
              <a:rPr lang="en-US" sz="1400" dirty="0">
                <a:solidFill>
                  <a:schemeClr val="tx2"/>
                </a:solidFill>
              </a:rPr>
              <a:t>Le compactage assure la stabilité des matériaux.</a:t>
            </a:r>
            <a:endParaRPr lang="en-US" sz="1400" dirty="0"/>
          </a:p>
        </p:txBody>
      </p:sp>
      <p:pic>
        <p:nvPicPr>
          <p:cNvPr id="5" name="Illustration" descr="Illustration">    </p:cNvPr>
          <p:cNvPicPr>
            <a:picLocks noChangeAspect="1"/>
          </p:cNvPicPr>
          <p:nvPr/>
        </p:nvPicPr>
        <p:blipFill>
          <a:blip r:embed="rId1"/>
          <a:stretch>
            <a:fillRect/>
          </a:stretch>
        </p:blipFill>
        <p:spPr>
          <a:xfrm>
            <a:off x="5074920" y="1236056"/>
            <a:ext cx="3383280" cy="2648527"/>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457200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05 • PLATEFORME</a:t>
            </a:r>
            <a:endParaRPr lang="en-US" sz="1100" dirty="0"/>
          </a:p>
        </p:txBody>
      </p:sp>
      <p:sp>
        <p:nvSpPr>
          <p:cNvPr id="3" name="Text 0"/>
          <p:cNvSpPr/>
          <p:nvPr>
            <p:ph idx="100" type="title" hasCustomPrompt="1"/>
          </p:nvPr>
        </p:nvSpPr>
        <p:spPr>
          <a:xfrm>
            <a:off x="4572000" y="1097280"/>
            <a:ext cx="3749040" cy="1051560"/>
          </a:xfrm>
          <a:prstGeom prst="rect">
            <a:avLst/>
          </a:prstGeom>
          <a:noFill/>
          <a:ln/>
        </p:spPr>
        <p:txBody>
          <a:bodyPr wrap="square" lIns="0" tIns="0" rIns="0" bIns="0" rtlCol="0" anchor="t"/>
          <a:lstStyle/>
          <a:p>
            <a:pPr algn="l" indent="0" marL="0">
              <a:buNone/>
            </a:pPr>
            <a:r>
              <a:rPr lang="en-US" sz="3200" b="1" dirty="0">
                <a:solidFill>
                  <a:schemeClr val="tx1"/>
                </a:solidFill>
              </a:rPr>
              <a:t>Couche de Forme</a:t>
            </a:r>
            <a:endParaRPr lang="en-US" sz="3200" dirty="0"/>
          </a:p>
        </p:txBody>
      </p:sp>
      <p:sp>
        <p:nvSpPr>
          <p:cNvPr id="4" name="Text 0"/>
          <p:cNvSpPr/>
          <p:nvPr>
            <p:ph idx="101" type="body" hasCustomPrompt="1"/>
          </p:nvPr>
        </p:nvSpPr>
        <p:spPr>
          <a:xfrm>
            <a:off x="4572000" y="2240280"/>
            <a:ext cx="3749040" cy="2194560"/>
          </a:xfrm>
          <a:prstGeom prst="rect">
            <a:avLst/>
          </a:prstGeom>
          <a:noFill/>
          <a:ln/>
        </p:spPr>
        <p:txBody>
          <a:bodyPr wrap="square" lIns="0" tIns="0" rIns="0" bIns="0" rtlCol="0" anchor="t"/>
          <a:lstStyle/>
          <a:p>
            <a:pPr algn="l" indent="0" marL="0">
              <a:buNone/>
            </a:pPr>
            <a:r>
              <a:rPr lang="en-US" sz="1400" dirty="0">
                <a:solidFill>
                  <a:schemeClr val="tx2"/>
                </a:solidFill>
              </a:rPr>
              <a:t>La couche de forme est la première couche de la chaussée, située juste au-dessus de la plate-forme. Son objectif est de répartir les charges du trafic sur la plateforme et d'assurer une bonne assise pour les couches supérieures. Elle est généralement constituée de matériaux granulaires comme le tout-venant ou le gravier.</a:t>
            </a:r>
            <a:endParaRPr lang="en-US" sz="1400" dirty="0"/>
          </a:p>
        </p:txBody>
      </p:sp>
      <p:pic>
        <p:nvPicPr>
          <p:cNvPr id="5" name="Illustration" descr="Illustration">    </p:cNvPr>
          <p:cNvPicPr>
            <a:picLocks noChangeAspect="1"/>
          </p:cNvPicPr>
          <p:nvPr/>
        </p:nvPicPr>
        <p:blipFill>
          <a:blip r:embed="rId1"/>
          <a:stretch>
            <a:fillRect/>
          </a:stretch>
        </p:blipFill>
        <p:spPr>
          <a:xfrm>
            <a:off x="685800" y="1403728"/>
            <a:ext cx="3566160" cy="2313185"/>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4572000" cy="868680"/>
          </a:xfrm>
          <a:prstGeom prst="rect">
            <a:avLst/>
          </a:prstGeom>
          <a:noFill/>
          <a:ln/>
        </p:spPr>
        <p:txBody>
          <a:bodyPr wrap="square" lIns="0" tIns="0" rIns="0" bIns="0" rtlCol="0" anchor="t"/>
          <a:lstStyle/>
          <a:p>
            <a:pPr algn="l" indent="0" marL="0">
              <a:buNone/>
            </a:pPr>
            <a:r>
              <a:rPr lang="en-US" sz="2600" b="1" dirty="0">
                <a:solidFill>
                  <a:schemeClr val="tx1"/>
                </a:solidFill>
              </a:rPr>
              <a:t>Structure des Couches</a:t>
            </a:r>
            <a:endParaRPr lang="en-US" sz="2600" dirty="0"/>
          </a:p>
        </p:txBody>
      </p:sp>
      <p:sp>
        <p:nvSpPr>
          <p:cNvPr id="3" name="Text 0"/>
          <p:cNvSpPr/>
          <p:nvPr>
            <p:ph idx="101" type="body" hasCustomPrompt="1"/>
          </p:nvPr>
        </p:nvSpPr>
        <p:spPr>
          <a:xfrm>
            <a:off x="822960" y="1554480"/>
            <a:ext cx="4572000" cy="3017520"/>
          </a:xfrm>
          <a:prstGeom prst="rect">
            <a:avLst/>
          </a:prstGeom>
          <a:noFill/>
          <a:ln/>
        </p:spPr>
        <p:txBody>
          <a:bodyPr wrap="square" lIns="0" tIns="0" rIns="0" bIns="0" rtlCol="0" anchor="t"/>
          <a:lstStyle/>
          <a:p>
            <a:pPr algn="l" indent="0" marL="0">
              <a:spcAft>
                <a:spcPts val="1000"/>
              </a:spcAft>
              <a:buNone/>
            </a:pPr>
            <a:r>
              <a:rPr lang="en-US" sz="1200" dirty="0">
                <a:solidFill>
                  <a:schemeClr val="tx2"/>
                </a:solidFill>
              </a:rPr>
              <a:t>La structure des couches d'une chaussée est essentielle pour sa durabilité et sa performance. Elle est composée de plusieurs assises, chacune ayant un rôle spécifique.</a:t>
            </a:r>
            <a:endParaRPr lang="en-US" sz="1400" dirty="0"/>
          </a:p>
          <a:p>
            <a:pPr algn="l" marL="342900" indent="-342900">
              <a:buSzPct val="100000"/>
              <a:buChar char="•"/>
            </a:pPr>
            <a:r>
              <a:rPr lang="en-US" sz="1200" b="1" dirty="0">
                <a:solidFill>
                  <a:schemeClr val="tx1"/>
                </a:solidFill>
              </a:rPr>
              <a:t>Couche de fondation : </a:t>
            </a:r>
            <a:pPr algn="l" indent="0" marL="0">
              <a:spcAft>
                <a:spcPts val="800"/>
              </a:spcAft>
              <a:buNone/>
            </a:pPr>
            <a:r>
              <a:rPr lang="en-US" sz="1200" dirty="0">
                <a:solidFill>
                  <a:schemeClr val="tx2"/>
                </a:solidFill>
              </a:rPr>
              <a:t>Supporte les couches supérieures et répartit les charges sur la plateforme.</a:t>
            </a:r>
            <a:endParaRPr lang="en-US" sz="1400" dirty="0"/>
          </a:p>
          <a:p>
            <a:pPr algn="l" marL="342900" indent="-342900">
              <a:buSzPct val="100000"/>
              <a:buChar char="•"/>
            </a:pPr>
            <a:r>
              <a:rPr lang="en-US" sz="1200" b="1" dirty="0">
                <a:solidFill>
                  <a:schemeClr val="tx1"/>
                </a:solidFill>
              </a:rPr>
              <a:t>Couche de base : </a:t>
            </a:r>
            <a:pPr algn="l" indent="0" marL="0">
              <a:spcAft>
                <a:spcPts val="800"/>
              </a:spcAft>
              <a:buNone/>
            </a:pPr>
            <a:r>
              <a:rPr lang="en-US" sz="1200" dirty="0">
                <a:solidFill>
                  <a:schemeClr val="tx2"/>
                </a:solidFill>
              </a:rPr>
              <a:t>Assure la répartition des charges et la résistance de la chaussée.</a:t>
            </a:r>
            <a:endParaRPr lang="en-US" sz="1400" dirty="0"/>
          </a:p>
          <a:p>
            <a:pPr algn="l" marL="342900" indent="-342900">
              <a:buSzPct val="100000"/>
              <a:buChar char="•"/>
            </a:pPr>
            <a:r>
              <a:rPr lang="en-US" sz="1200" b="1" dirty="0">
                <a:solidFill>
                  <a:schemeClr val="tx1"/>
                </a:solidFill>
              </a:rPr>
              <a:t>Couche de liaison : </a:t>
            </a:r>
            <a:pPr algn="l" indent="0" marL="0">
              <a:spcAft>
                <a:spcPts val="800"/>
              </a:spcAft>
              <a:buNone/>
            </a:pPr>
            <a:r>
              <a:rPr lang="en-US" sz="1200" dirty="0">
                <a:solidFill>
                  <a:schemeClr val="tx2"/>
                </a:solidFill>
              </a:rPr>
              <a:t>Permet l'adhérence entre la couche de base et la couche de roulement.</a:t>
            </a:r>
            <a:endParaRPr lang="en-US" sz="1400" dirty="0"/>
          </a:p>
          <a:p>
            <a:pPr algn="l" marL="342900" indent="-342900">
              <a:buSzPct val="100000"/>
              <a:buChar char="•"/>
            </a:pPr>
            <a:r>
              <a:rPr lang="en-US" sz="1200" b="1" dirty="0">
                <a:solidFill>
                  <a:schemeClr val="tx1"/>
                </a:solidFill>
              </a:rPr>
              <a:t>Couche de roulement : </a:t>
            </a:r>
            <a:pPr algn="l" indent="0" marL="0">
              <a:spcAft>
                <a:spcPts val="800"/>
              </a:spcAft>
              <a:buNone/>
            </a:pPr>
            <a:r>
              <a:rPr lang="en-US" sz="1200" dirty="0">
                <a:solidFill>
                  <a:schemeClr val="tx2"/>
                </a:solidFill>
              </a:rPr>
              <a:t>Surface de contact offrant adhérence, sécurité et confort.</a:t>
            </a:r>
            <a:endParaRPr lang="en-US" sz="1400" dirty="0"/>
          </a:p>
        </p:txBody>
      </p:sp>
      <p:pic>
        <p:nvPicPr>
          <p:cNvPr id="4" name="Illustration" descr="Illustration">    </p:cNvPr>
          <p:cNvPicPr>
            <a:picLocks noChangeAspect="1"/>
          </p:cNvPicPr>
          <p:nvPr/>
        </p:nvPicPr>
        <p:blipFill>
          <a:blip r:embed="rId1"/>
          <a:stretch>
            <a:fillRect/>
          </a:stretch>
        </p:blipFill>
        <p:spPr>
          <a:xfrm>
            <a:off x="5623560" y="1932650"/>
            <a:ext cx="2834640" cy="1255341"/>
          </a:xfrm>
          <a:prstGeom prst="rect">
            <a:avLst/>
          </a:prstGeom>
        </p:spPr>
      </p:pic>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p:tgtEl>
                                                <p:spTgt spid="2"/>
                                              </p:tgtEl>
                                              <p:attrNameLst>
                                                <p:attrName>ppt_x</p:attrName>
                                              </p:attrNameLst>
                                            </p:cBhvr>
                                            <p:tavLst>
                                              <p:tav tm="0">
                                                <p:val>
                                                  <p:strVal val="0-#ppt_w/2"/>
                                                </p:val>
                                              </p:tav>
                                              <p:tav tm="100000">
                                                <p:val>
                                                  <p:strVal val="#ppt_x"/>
                                                </p:val>
                                              </p:tav>
                                            </p:tavLst>
                                          </p:anim>
                                          <p:anim calcmode="lin" valueType="num">
                                            <p:cBhvr additive="base">
                                              <p:cTn id="8" dur="6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9" fill="hold">
                                  <p:stCondLst>
                                    <p:cond delay="1300"/>
                                  </p:stCondLst>
                                  <p:childTnLst>
                                    <p:par>
                                      <p:cTn id="14" presetID="53" presetClass="entr" presetSubtype="16"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600" fill="hold"/>
                                              <p:tgtEl>
                                                <p:spTgt spid="4"/>
                                              </p:tgtEl>
                                              <p:attrNameLst>
                                                <p:attrName>ppt_w</p:attrName>
                                              </p:attrNameLst>
                                            </p:cBhvr>
                                            <p:tavLst>
                                              <p:tav tm="0">
                                                <p:val>
                                                  <p:strVal val="0"/>
                                                </p:val>
                                              </p:tav>
                                              <p:tav tm="100000">
                                                <p:val>
                                                  <p:strVal val="#ppt_w"/>
                                                </p:val>
                                              </p:tav>
                                            </p:tavLst>
                                          </p:anim>
                                          <p:anim calcmode="lin" valueType="num">
                                            <p:cBhvr additive="base">
                                              <p:cTn id="17" dur="600" fill="hold"/>
                                              <p:tgtEl>
                                                <p:spTgt spid="4"/>
                                              </p:tgtEl>
                                              <p:attrNameLst>
                                                <p:attrName>ppt_h</p:attrName>
                                              </p:attrNameLst>
                                            </p:cBhvr>
                                            <p:tavLst>
                                              <p:tav tm="0">
                                                <p:val>
                                                  <p:strVal val="0"/>
                                                </p:val>
                                              </p:tav>
                                              <p:tav tm="100000">
                                                <p:val>
                                                  <p:strVal val="#ppt_h"/>
                                                </p:val>
                                              </p:tav>
                                            </p:tavLst>
                                          </p:anim>
                                          <p:animEffect transition="in" filter="fade">
                                            <p:cBhvr>
                                              <p:cTn id="18" dur="600"/>
                                              <p:tgtEl>
                                                <p:spTgt spid="4"/>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86868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06 • ASSISES</a:t>
            </a:r>
            <a:endParaRPr lang="en-US" sz="1100" dirty="0"/>
          </a:p>
        </p:txBody>
      </p:sp>
      <p:sp>
        <p:nvSpPr>
          <p:cNvPr id="3" name="Text 0"/>
          <p:cNvSpPr/>
          <p:nvPr>
            <p:ph idx="100" type="title" hasCustomPrompt="1"/>
          </p:nvPr>
        </p:nvSpPr>
        <p:spPr>
          <a:xfrm>
            <a:off x="868680" y="1097280"/>
            <a:ext cx="3931920" cy="1051560"/>
          </a:xfrm>
          <a:prstGeom prst="rect">
            <a:avLst/>
          </a:prstGeom>
          <a:noFill/>
          <a:ln/>
        </p:spPr>
        <p:txBody>
          <a:bodyPr wrap="square" lIns="0" tIns="0" rIns="0" bIns="0" rtlCol="0" anchor="t"/>
          <a:lstStyle/>
          <a:p>
            <a:pPr algn="l" indent="0" marL="0">
              <a:buNone/>
            </a:pPr>
            <a:r>
              <a:rPr lang="en-US" sz="3200" b="1" dirty="0">
                <a:solidFill>
                  <a:schemeClr val="tx1"/>
                </a:solidFill>
              </a:rPr>
              <a:t>Fondation et Base</a:t>
            </a:r>
            <a:endParaRPr lang="en-US" sz="3200" dirty="0"/>
          </a:p>
        </p:txBody>
      </p:sp>
      <p:sp>
        <p:nvSpPr>
          <p:cNvPr id="4" name="Text 0"/>
          <p:cNvSpPr/>
          <p:nvPr>
            <p:ph idx="101" type="body" hasCustomPrompt="1"/>
          </p:nvPr>
        </p:nvSpPr>
        <p:spPr>
          <a:xfrm>
            <a:off x="868680" y="2240280"/>
            <a:ext cx="3931920" cy="2194560"/>
          </a:xfrm>
          <a:prstGeom prst="rect">
            <a:avLst/>
          </a:prstGeom>
          <a:noFill/>
          <a:ln/>
        </p:spPr>
        <p:txBody>
          <a:bodyPr wrap="square" lIns="0" tIns="0" rIns="0" bIns="0" rtlCol="0" anchor="t"/>
          <a:lstStyle/>
          <a:p>
            <a:pPr algn="l" indent="0" marL="0">
              <a:buNone/>
            </a:pPr>
            <a:r>
              <a:rPr lang="en-US" sz="1400" dirty="0">
                <a:solidFill>
                  <a:schemeClr val="tx2"/>
                </a:solidFill>
              </a:rPr>
              <a:t>La couche de forme prépare la plateforme pour les couches de chaussée. Elle assure la portance et la stabilité de la route. Les matériaux sont généralement des granulats sélectionnés et compactés.</a:t>
            </a:r>
            <a:endParaRPr lang="en-US" sz="1400" dirty="0"/>
          </a:p>
        </p:txBody>
      </p:sp>
      <p:pic>
        <p:nvPicPr>
          <p:cNvPr id="5" name="Illustration" descr="Illustration">    </p:cNvPr>
          <p:cNvPicPr>
            <a:picLocks noChangeAspect="1"/>
          </p:cNvPicPr>
          <p:nvPr/>
        </p:nvPicPr>
        <p:blipFill>
          <a:blip r:embed="rId1"/>
          <a:stretch>
            <a:fillRect/>
          </a:stretch>
        </p:blipFill>
        <p:spPr>
          <a:xfrm>
            <a:off x="5074920" y="1390791"/>
            <a:ext cx="3383280" cy="233905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457200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07 • SURFACE</a:t>
            </a:r>
            <a:endParaRPr lang="en-US" sz="1100" dirty="0"/>
          </a:p>
        </p:txBody>
      </p:sp>
      <p:sp>
        <p:nvSpPr>
          <p:cNvPr id="3" name="Text 0"/>
          <p:cNvSpPr/>
          <p:nvPr>
            <p:ph idx="100" type="title" hasCustomPrompt="1"/>
          </p:nvPr>
        </p:nvSpPr>
        <p:spPr>
          <a:xfrm>
            <a:off x="4572000" y="1097280"/>
            <a:ext cx="3749040" cy="1051560"/>
          </a:xfrm>
          <a:prstGeom prst="rect">
            <a:avLst/>
          </a:prstGeom>
          <a:noFill/>
          <a:ln/>
        </p:spPr>
        <p:txBody>
          <a:bodyPr wrap="square" lIns="0" tIns="0" rIns="0" bIns="0" rtlCol="0" anchor="t"/>
          <a:lstStyle/>
          <a:p>
            <a:pPr algn="l" indent="0" marL="0">
              <a:buNone/>
            </a:pPr>
            <a:r>
              <a:rPr lang="en-US" sz="3200" b="1" dirty="0">
                <a:solidFill>
                  <a:schemeClr val="tx1"/>
                </a:solidFill>
              </a:rPr>
              <a:t>Couches de Surface</a:t>
            </a:r>
            <a:endParaRPr lang="en-US" sz="3200" dirty="0"/>
          </a:p>
        </p:txBody>
      </p:sp>
      <p:sp>
        <p:nvSpPr>
          <p:cNvPr id="4" name="Text 0"/>
          <p:cNvSpPr/>
          <p:nvPr>
            <p:ph idx="101" type="body" hasCustomPrompt="1"/>
          </p:nvPr>
        </p:nvSpPr>
        <p:spPr>
          <a:xfrm>
            <a:off x="4572000" y="2240280"/>
            <a:ext cx="3749040" cy="219456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2"/>
                </a:solidFill>
              </a:rPr>
              <a:t>La construction des différentes couches de chaussée est essentielle pour la durabilité et la performance de la route.</a:t>
            </a:r>
            <a:endParaRPr lang="en-US" sz="1400" dirty="0"/>
          </a:p>
          <a:p>
            <a:pPr algn="l" marL="342900" indent="-342900">
              <a:spcAft>
                <a:spcPts val="800"/>
              </a:spcAft>
              <a:buSzPct val="100000"/>
              <a:buChar char="•"/>
            </a:pPr>
            <a:r>
              <a:rPr lang="en-US" sz="1400" dirty="0">
                <a:solidFill>
                  <a:schemeClr val="tx2"/>
                </a:solidFill>
              </a:rPr>
              <a:t>Chaque couche a un rôle spécifique dans la répartition des charges et la protection de la structure routière.</a:t>
            </a:r>
            <a:endParaRPr lang="en-US" sz="1400" dirty="0"/>
          </a:p>
        </p:txBody>
      </p:sp>
      <p:pic>
        <p:nvPicPr>
          <p:cNvPr id="5" name="Illustration" descr="Illustration">    </p:cNvPr>
          <p:cNvPicPr>
            <a:picLocks noChangeAspect="1"/>
          </p:cNvPicPr>
          <p:nvPr/>
        </p:nvPicPr>
        <p:blipFill>
          <a:blip r:embed="rId1"/>
          <a:stretch>
            <a:fillRect/>
          </a:stretch>
        </p:blipFill>
        <p:spPr>
          <a:xfrm>
            <a:off x="689458" y="640080"/>
            <a:ext cx="3558845" cy="3840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86868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08 • ENROBÉ</a:t>
            </a:r>
            <a:endParaRPr lang="en-US" sz="1100" dirty="0"/>
          </a:p>
        </p:txBody>
      </p:sp>
      <p:sp>
        <p:nvSpPr>
          <p:cNvPr id="3" name="Text 0"/>
          <p:cNvSpPr/>
          <p:nvPr>
            <p:ph idx="100" type="title" hasCustomPrompt="1"/>
          </p:nvPr>
        </p:nvSpPr>
        <p:spPr>
          <a:xfrm>
            <a:off x="868680" y="1097280"/>
            <a:ext cx="3931920" cy="1051560"/>
          </a:xfrm>
          <a:prstGeom prst="rect">
            <a:avLst/>
          </a:prstGeom>
          <a:noFill/>
          <a:ln/>
        </p:spPr>
        <p:txBody>
          <a:bodyPr wrap="square" lIns="0" tIns="0" rIns="0" bIns="0" rtlCol="0" anchor="t"/>
          <a:lstStyle/>
          <a:p>
            <a:pPr algn="l" indent="0" marL="0">
              <a:buNone/>
            </a:pPr>
            <a:r>
              <a:rPr lang="en-US" sz="3200" b="1" dirty="0">
                <a:solidFill>
                  <a:schemeClr val="tx1"/>
                </a:solidFill>
              </a:rPr>
              <a:t>Mise en œuvre</a:t>
            </a:r>
            <a:endParaRPr lang="en-US" sz="3200" dirty="0"/>
          </a:p>
        </p:txBody>
      </p:sp>
      <p:sp>
        <p:nvSpPr>
          <p:cNvPr id="4" name="Text 0"/>
          <p:cNvSpPr/>
          <p:nvPr>
            <p:ph idx="101" type="body" hasCustomPrompt="1"/>
          </p:nvPr>
        </p:nvSpPr>
        <p:spPr>
          <a:xfrm>
            <a:off x="868680" y="2240280"/>
            <a:ext cx="3931920" cy="2194560"/>
          </a:xfrm>
          <a:prstGeom prst="rect">
            <a:avLst/>
          </a:prstGeom>
          <a:noFill/>
          <a:ln/>
        </p:spPr>
        <p:txBody>
          <a:bodyPr wrap="square" lIns="0" tIns="0" rIns="0" bIns="0" rtlCol="0" anchor="t"/>
          <a:lstStyle/>
          <a:p>
            <a:pPr algn="l" indent="0" marL="0">
              <a:spcAft>
                <a:spcPts val="1000"/>
              </a:spcAft>
              <a:buNone/>
            </a:pPr>
            <a:r>
              <a:rPr lang="en-US" sz="1400" dirty="0">
                <a:solidFill>
                  <a:schemeClr val="tx2"/>
                </a:solidFill>
              </a:rPr>
              <a:t>Fabrication, transport et mise en œuvre de l'enrobé bitumineux.</a:t>
            </a:r>
            <a:endParaRPr lang="en-US" sz="1400" dirty="0"/>
          </a:p>
          <a:p>
            <a:pPr algn="l" indent="0" marL="0">
              <a:spcAft>
                <a:spcPts val="1000"/>
              </a:spcAft>
              <a:buNone/>
            </a:pPr>
            <a:r>
              <a:rPr lang="en-US" sz="1400" dirty="0">
                <a:solidFill>
                  <a:schemeClr val="tx2"/>
                </a:solidFill>
              </a:rPr>
              <a:t>Objectif : créer la surface de roulement. Matériaux : granulats et bitume.</a:t>
            </a:r>
            <a:endParaRPr lang="en-US" sz="1400" dirty="0"/>
          </a:p>
          <a:p>
            <a:pPr algn="l" indent="0" marL="0">
              <a:spcAft>
                <a:spcPts val="1000"/>
              </a:spcAft>
              <a:buNone/>
            </a:pPr>
            <a:r>
              <a:rPr lang="en-US" sz="1400" dirty="0">
                <a:solidFill>
                  <a:schemeClr val="tx2"/>
                </a:solidFill>
              </a:rPr>
              <a:t>Engins : finisseur, rouleaux. Contrôles : température, épaisseur, compactage.</a:t>
            </a:r>
            <a:endParaRPr lang="en-US" sz="1400" dirty="0"/>
          </a:p>
        </p:txBody>
      </p:sp>
      <p:pic>
        <p:nvPicPr>
          <p:cNvPr id="5" name="Illustration" descr="Illustration">    </p:cNvPr>
          <p:cNvPicPr>
            <a:picLocks noChangeAspect="1"/>
          </p:cNvPicPr>
          <p:nvPr/>
        </p:nvPicPr>
        <p:blipFill>
          <a:blip r:embed="rId1"/>
          <a:stretch>
            <a:fillRect/>
          </a:stretch>
        </p:blipFill>
        <p:spPr>
          <a:xfrm>
            <a:off x="5074920" y="847534"/>
            <a:ext cx="3383280" cy="3425571"/>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4572000" cy="868680"/>
          </a:xfrm>
          <a:prstGeom prst="rect">
            <a:avLst/>
          </a:prstGeom>
          <a:noFill/>
          <a:ln/>
        </p:spPr>
        <p:txBody>
          <a:bodyPr wrap="square" lIns="0" tIns="0" rIns="0" bIns="0" rtlCol="0" anchor="t"/>
          <a:lstStyle/>
          <a:p>
            <a:pPr algn="l" indent="0" marL="0">
              <a:buNone/>
            </a:pPr>
            <a:r>
              <a:rPr lang="en-US" sz="2600" b="1" dirty="0">
                <a:solidFill>
                  <a:schemeClr val="tx1"/>
                </a:solidFill>
              </a:rPr>
              <a:t>Compactage et Assurance Qualité</a:t>
            </a:r>
            <a:endParaRPr lang="en-US" sz="2600" dirty="0"/>
          </a:p>
        </p:txBody>
      </p:sp>
      <p:sp>
        <p:nvSpPr>
          <p:cNvPr id="3" name="Text 0"/>
          <p:cNvSpPr/>
          <p:nvPr>
            <p:ph idx="101" type="body" hasCustomPrompt="1"/>
          </p:nvPr>
        </p:nvSpPr>
        <p:spPr>
          <a:xfrm>
            <a:off x="822960" y="1554480"/>
            <a:ext cx="4572000" cy="3017520"/>
          </a:xfrm>
          <a:prstGeom prst="rect">
            <a:avLst/>
          </a:prstGeom>
          <a:noFill/>
          <a:ln/>
        </p:spPr>
        <p:txBody>
          <a:bodyPr wrap="square" lIns="0" tIns="0" rIns="0" bIns="0" rtlCol="0" anchor="t"/>
          <a:lstStyle/>
          <a:p>
            <a:pPr algn="l" indent="0" marL="0">
              <a:spcAft>
                <a:spcPts val="200"/>
              </a:spcAft>
              <a:buNone/>
            </a:pPr>
            <a:r>
              <a:rPr lang="en-US" sz="1100" b="1" spc="100" kern="0" dirty="0">
                <a:solidFill>
                  <a:schemeClr val="accent2"/>
                </a:solidFill>
              </a:rPr>
              <a:t>OBJECTIFS DU COMPACTAGE</a:t>
            </a:r>
            <a:endParaRPr lang="en-US" sz="1400" dirty="0"/>
          </a:p>
          <a:p>
            <a:pPr algn="l" indent="0" marL="0">
              <a:spcAft>
                <a:spcPts val="1000"/>
              </a:spcAft>
              <a:buNone/>
            </a:pPr>
            <a:r>
              <a:rPr lang="en-US" sz="1200" dirty="0">
                <a:solidFill>
                  <a:schemeClr val="tx2"/>
                </a:solidFill>
              </a:rPr>
              <a:t>Le compactage vise à augmenter la densité des matériaux, améliorant ainsi leur résistance et leur stabilité. Il est crucial pour la durabilité de la chaussée. Les principaux objectifs sont de réduire la déformabilité, d'augmenter la portance et de diminuer la perméabilité.</a:t>
            </a:r>
            <a:endParaRPr lang="en-US" sz="1400" dirty="0"/>
          </a:p>
          <a:p>
            <a:pPr algn="l" indent="0" marL="0">
              <a:spcAft>
                <a:spcPts val="200"/>
              </a:spcAft>
              <a:buNone/>
            </a:pPr>
            <a:r>
              <a:rPr lang="en-US" sz="1100" b="1" spc="100" kern="0" dirty="0">
                <a:solidFill>
                  <a:schemeClr val="accent2"/>
                </a:solidFill>
              </a:rPr>
              <a:t>ASSURANCE QUALITÉ</a:t>
            </a:r>
            <a:endParaRPr lang="en-US" sz="1400" dirty="0"/>
          </a:p>
          <a:p>
            <a:pPr algn="l" indent="0" marL="0">
              <a:buNone/>
            </a:pPr>
            <a:r>
              <a:rPr lang="en-US" sz="1200" dirty="0">
                <a:solidFill>
                  <a:schemeClr val="tx2"/>
                </a:solidFill>
              </a:rPr>
              <a:t>L'assurance qualité garantit que les travaux respectent les normes et spécifications. Elle inclut des contrôles réguliers des matériaux et des compactages. Les essais courants sont la mesure de la densité in situ, la teneur en eau et la plaque vibrante pour vérifier la portance.</a:t>
            </a:r>
            <a:endParaRPr lang="en-US" sz="1400" dirty="0"/>
          </a:p>
        </p:txBody>
      </p:sp>
      <p:pic>
        <p:nvPicPr>
          <p:cNvPr id="4" name="Illustration" descr="Illustration">    </p:cNvPr>
          <p:cNvPicPr>
            <a:picLocks noChangeAspect="1"/>
          </p:cNvPicPr>
          <p:nvPr/>
        </p:nvPicPr>
        <p:blipFill>
          <a:blip r:embed="rId1"/>
          <a:stretch>
            <a:fillRect/>
          </a:stretch>
        </p:blipFill>
        <p:spPr>
          <a:xfrm>
            <a:off x="5623560" y="980599"/>
            <a:ext cx="2834640" cy="3159443"/>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p:tgtEl>
                                                <p:spTgt spid="2"/>
                                              </p:tgtEl>
                                              <p:attrNameLst>
                                                <p:attrName>ppt_x</p:attrName>
                                              </p:attrNameLst>
                                            </p:cBhvr>
                                            <p:tavLst>
                                              <p:tav tm="0">
                                                <p:val>
                                                  <p:strVal val="0-#ppt_w/2"/>
                                                </p:val>
                                              </p:tav>
                                              <p:tav tm="100000">
                                                <p:val>
                                                  <p:strVal val="#ppt_x"/>
                                                </p:val>
                                              </p:tav>
                                            </p:tavLst>
                                          </p:anim>
                                          <p:anim calcmode="lin" valueType="num">
                                            <p:cBhvr additive="base">
                                              <p:cTn id="8" dur="6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9" fill="hold">
                                  <p:stCondLst>
                                    <p:cond delay="1300"/>
                                  </p:stCondLst>
                                  <p:childTnLst>
                                    <p:par>
                                      <p:cTn id="14" presetID="53" presetClass="entr" presetSubtype="16"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600" fill="hold"/>
                                              <p:tgtEl>
                                                <p:spTgt spid="4"/>
                                              </p:tgtEl>
                                              <p:attrNameLst>
                                                <p:attrName>ppt_w</p:attrName>
                                              </p:attrNameLst>
                                            </p:cBhvr>
                                            <p:tavLst>
                                              <p:tav tm="0">
                                                <p:val>
                                                  <p:strVal val="0"/>
                                                </p:val>
                                              </p:tav>
                                              <p:tav tm="100000">
                                                <p:val>
                                                  <p:strVal val="#ppt_w"/>
                                                </p:val>
                                              </p:tav>
                                            </p:tavLst>
                                          </p:anim>
                                          <p:anim calcmode="lin" valueType="num">
                                            <p:cBhvr additive="base">
                                              <p:cTn id="17" dur="600" fill="hold"/>
                                              <p:tgtEl>
                                                <p:spTgt spid="4"/>
                                              </p:tgtEl>
                                              <p:attrNameLst>
                                                <p:attrName>ppt_h</p:attrName>
                                              </p:attrNameLst>
                                            </p:cBhvr>
                                            <p:tavLst>
                                              <p:tav tm="0">
                                                <p:val>
                                                  <p:strVal val="0"/>
                                                </p:val>
                                              </p:tav>
                                              <p:tav tm="100000">
                                                <p:val>
                                                  <p:strVal val="#ppt_h"/>
                                                </p:val>
                                              </p:tav>
                                            </p:tavLst>
                                          </p:anim>
                                          <p:animEffect transition="in" filter="fade">
                                            <p:cBhvr>
                                              <p:cTn id="18" dur="600"/>
                                              <p:tgtEl>
                                                <p:spTgt spid="4"/>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457200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09 • HYDRAULIQUE</a:t>
            </a:r>
            <a:endParaRPr lang="en-US" sz="1100" dirty="0"/>
          </a:p>
        </p:txBody>
      </p:sp>
      <p:sp>
        <p:nvSpPr>
          <p:cNvPr id="3" name="Text 0"/>
          <p:cNvSpPr/>
          <p:nvPr>
            <p:ph idx="100" type="title" hasCustomPrompt="1"/>
          </p:nvPr>
        </p:nvSpPr>
        <p:spPr>
          <a:xfrm>
            <a:off x="4572000" y="1097280"/>
            <a:ext cx="3749040" cy="1051560"/>
          </a:xfrm>
          <a:prstGeom prst="rect">
            <a:avLst/>
          </a:prstGeom>
          <a:noFill/>
          <a:ln/>
        </p:spPr>
        <p:txBody>
          <a:bodyPr wrap="square" lIns="0" tIns="0" rIns="0" bIns="0" rtlCol="0" anchor="t"/>
          <a:lstStyle/>
          <a:p>
            <a:pPr algn="l" indent="0" marL="0">
              <a:buNone/>
            </a:pPr>
            <a:r>
              <a:rPr lang="en-US" sz="3200" b="1" dirty="0">
                <a:solidFill>
                  <a:schemeClr val="tx1"/>
                </a:solidFill>
              </a:rPr>
              <a:t>Assainissement</a:t>
            </a:r>
            <a:endParaRPr lang="en-US" sz="3200" dirty="0"/>
          </a:p>
        </p:txBody>
      </p:sp>
      <p:sp>
        <p:nvSpPr>
          <p:cNvPr id="4" name="Text 0"/>
          <p:cNvSpPr/>
          <p:nvPr>
            <p:ph idx="101" type="body" hasCustomPrompt="1"/>
          </p:nvPr>
        </p:nvSpPr>
        <p:spPr>
          <a:xfrm>
            <a:off x="4572000" y="2240280"/>
            <a:ext cx="3749040" cy="2194560"/>
          </a:xfrm>
          <a:prstGeom prst="rect">
            <a:avLst/>
          </a:prstGeom>
          <a:noFill/>
          <a:ln/>
        </p:spPr>
        <p:txBody>
          <a:bodyPr wrap="square" lIns="0" tIns="0" rIns="0" bIns="0" rtlCol="0" anchor="t"/>
          <a:lstStyle/>
          <a:p>
            <a:pPr algn="l" indent="0" marL="0">
              <a:buNone/>
            </a:pPr>
            <a:r>
              <a:rPr lang="en-US" sz="1200" dirty="0">
                <a:solidFill>
                  <a:schemeClr val="tx2"/>
                </a:solidFill>
              </a:rPr>
              <a:t>L'assainissement vise à évacuer les eaux de surface et souterraines pour assurer la stabilité de la chaussée et la sécurité des usagers. Les travaux incluent la création de fossés, caniveaux, buses et systèmes de drainage. Les matériaux couramment utilisés sont le béton, le PVC et la pierre. Les engins comme les pelles mécaniques et les niveleuses sont essentiels. Des contrôles de compactage et de pente sont effectués pour garantir l'efficacité du système.</a:t>
            </a:r>
            <a:endParaRPr lang="en-US" sz="1400" dirty="0"/>
          </a:p>
        </p:txBody>
      </p:sp>
      <p:pic>
        <p:nvPicPr>
          <p:cNvPr id="5" name="Illustration" descr="Illustration">    </p:cNvPr>
          <p:cNvPicPr>
            <a:picLocks noChangeAspect="1"/>
          </p:cNvPicPr>
          <p:nvPr/>
        </p:nvPicPr>
        <p:blipFill>
          <a:blip r:embed="rId1"/>
          <a:stretch>
            <a:fillRect/>
          </a:stretch>
        </p:blipFill>
        <p:spPr>
          <a:xfrm>
            <a:off x="685800" y="661456"/>
            <a:ext cx="3566160" cy="3797729"/>
          </a:xfrm>
          <a:prstGeom prst="rect">
            <a:avLst/>
          </a:prstGeom>
        </p:spPr>
      </p:pic>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868680" y="749808"/>
            <a:ext cx="3657600" cy="274320"/>
          </a:xfrm>
          <a:prstGeom prst="rect">
            <a:avLst/>
          </a:prstGeom>
          <a:noFill/>
          <a:ln/>
        </p:spPr>
        <p:txBody>
          <a:bodyPr wrap="square" lIns="0" tIns="0" rIns="0" bIns="0" rtlCol="0" anchor="ctr"/>
          <a:lstStyle/>
          <a:p>
            <a:pPr indent="0" marL="0">
              <a:buNone/>
            </a:pPr>
            <a:r>
              <a:rPr lang="en-US" sz="1100" spc="200" kern="0" dirty="0">
                <a:solidFill>
                  <a:schemeClr val="accent2"/>
                </a:solidFill>
              </a:rPr>
              <a:t>10 • FINITIONS</a:t>
            </a:r>
            <a:endParaRPr lang="en-US" sz="1100" dirty="0"/>
          </a:p>
        </p:txBody>
      </p:sp>
      <p:sp>
        <p:nvSpPr>
          <p:cNvPr id="3" name="Text 0"/>
          <p:cNvSpPr/>
          <p:nvPr>
            <p:ph idx="100" type="title" hasCustomPrompt="1"/>
          </p:nvPr>
        </p:nvSpPr>
        <p:spPr>
          <a:xfrm>
            <a:off x="868680" y="1097280"/>
            <a:ext cx="3931920" cy="1051560"/>
          </a:xfrm>
          <a:prstGeom prst="rect">
            <a:avLst/>
          </a:prstGeom>
          <a:noFill/>
          <a:ln/>
        </p:spPr>
        <p:txBody>
          <a:bodyPr wrap="square" lIns="0" tIns="0" rIns="0" bIns="0" rtlCol="0" anchor="t"/>
          <a:lstStyle/>
          <a:p>
            <a:pPr algn="l" indent="0" marL="0">
              <a:buNone/>
            </a:pPr>
            <a:r>
              <a:rPr lang="en-US" sz="3200" b="1" dirty="0">
                <a:solidFill>
                  <a:schemeClr val="tx1"/>
                </a:solidFill>
              </a:rPr>
              <a:t>Les Accotements</a:t>
            </a:r>
            <a:endParaRPr lang="en-US" sz="3200" dirty="0"/>
          </a:p>
        </p:txBody>
      </p:sp>
      <p:sp>
        <p:nvSpPr>
          <p:cNvPr id="4" name="Text 0"/>
          <p:cNvSpPr/>
          <p:nvPr>
            <p:ph idx="101" type="body" hasCustomPrompt="1"/>
          </p:nvPr>
        </p:nvSpPr>
        <p:spPr>
          <a:xfrm>
            <a:off x="868680" y="2240280"/>
            <a:ext cx="3931920" cy="2194560"/>
          </a:xfrm>
          <a:prstGeom prst="rect">
            <a:avLst/>
          </a:prstGeom>
          <a:noFill/>
          <a:ln/>
        </p:spPr>
        <p:txBody>
          <a:bodyPr wrap="square" lIns="0" tIns="0" rIns="0" bIns="0" rtlCol="0" anchor="t"/>
          <a:lstStyle/>
          <a:p>
            <a:pPr algn="l" indent="0" marL="0">
              <a:buNone/>
            </a:pPr>
            <a:r>
              <a:rPr lang="en-US" sz="1400" b="1" dirty="0">
                <a:solidFill>
                  <a:schemeClr val="tx1"/>
                </a:solidFill>
              </a:rPr>
              <a:t>Stabilité &amp; Drainage — </a:t>
            </a:r>
            <a:pPr algn="l" indent="0" marL="0">
              <a:spcAft>
                <a:spcPts val="800"/>
              </a:spcAft>
              <a:buNone/>
            </a:pPr>
            <a:r>
              <a:rPr lang="en-US" sz="1400" dirty="0">
                <a:solidFill>
                  <a:schemeClr val="tx2"/>
                </a:solidFill>
              </a:rPr>
              <a:t>Assurent le maintien des bords de chaussée et facilitent l'évacuation des eaux pluviales.</a:t>
            </a:r>
            <a:endParaRPr lang="en-US" sz="1400" dirty="0"/>
          </a:p>
          <a:p>
            <a:pPr algn="l" indent="0" marL="0">
              <a:buNone/>
            </a:pPr>
            <a:r>
              <a:rPr lang="en-US" sz="1400" b="1" dirty="0">
                <a:solidFill>
                  <a:schemeClr val="tx1"/>
                </a:solidFill>
              </a:rPr>
              <a:t>Sécurité &amp; Mobilité — </a:t>
            </a:r>
            <a:pPr algn="l" indent="0" marL="0">
              <a:spcAft>
                <a:spcPts val="800"/>
              </a:spcAft>
              <a:buNone/>
            </a:pPr>
            <a:r>
              <a:rPr lang="en-US" sz="1400" dirty="0">
                <a:solidFill>
                  <a:schemeClr val="tx2"/>
                </a:solidFill>
              </a:rPr>
              <a:t>Offrent un espace dédié permettant la circulation sécurisée des piétons et des cyclistes.</a:t>
            </a:r>
            <a:endParaRPr lang="en-US" sz="1400" dirty="0"/>
          </a:p>
          <a:p>
            <a:pPr algn="l" indent="0" marL="0">
              <a:buNone/>
            </a:pPr>
            <a:r>
              <a:rPr lang="en-US" sz="1400" b="1" dirty="0">
                <a:solidFill>
                  <a:schemeClr val="tx1"/>
                </a:solidFill>
              </a:rPr>
              <a:t>Mise en œuvre — </a:t>
            </a:r>
            <a:pPr algn="l" indent="0" marL="0">
              <a:spcAft>
                <a:spcPts val="800"/>
              </a:spcAft>
              <a:buNone/>
            </a:pPr>
            <a:r>
              <a:rPr lang="en-US" sz="1400" dirty="0">
                <a:solidFill>
                  <a:schemeClr val="tx2"/>
                </a:solidFill>
              </a:rPr>
              <a:t>Nivellement et compactage du sol, souvent parachevés avec du gravier ou de l'enrobé.</a:t>
            </a:r>
            <a:endParaRPr lang="en-US" sz="1400" dirty="0"/>
          </a:p>
        </p:txBody>
      </p:sp>
      <p:pic>
        <p:nvPicPr>
          <p:cNvPr id="5" name="Illustration" descr="Illustration">    </p:cNvPr>
          <p:cNvPicPr>
            <a:picLocks noChangeAspect="1"/>
          </p:cNvPicPr>
          <p:nvPr/>
        </p:nvPicPr>
        <p:blipFill>
          <a:blip r:embed="rId1"/>
          <a:stretch>
            <a:fillRect/>
          </a:stretch>
        </p:blipFill>
        <p:spPr>
          <a:xfrm>
            <a:off x="5074920" y="998806"/>
            <a:ext cx="3383280" cy="312302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13" fill="hold">
                                  <p:stCondLst>
                                    <p:cond delay="650"/>
                                  </p:stCondLst>
                                  <p:childTnLst>
                                    <p:par>
                                      <p:cTn id="9" presetID="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600" fill="hold"/>
                                              <p:tgtEl>
                                                <p:spTgt spid="3"/>
                                              </p:tgtEl>
                                              <p:attrNameLst>
                                                <p:attrName>ppt_x</p:attrName>
                                              </p:attrNameLst>
                                            </p:cBhvr>
                                            <p:tavLst>
                                              <p:tav tm="0">
                                                <p:val>
                                                  <p:strVal val="0-#ppt_w/2"/>
                                                </p:val>
                                              </p:tav>
                                              <p:tav tm="100000">
                                                <p:val>
                                                  <p:strVal val="#ppt_x"/>
                                                </p:val>
                                              </p:tav>
                                            </p:tavLst>
                                          </p:anim>
                                          <p:anim calcmode="lin" valueType="num">
                                            <p:cBhvr additive="base">
                                              <p:cTn id="12" dur="6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23" fill="hold">
                                  <p:stCondLst>
                                    <p:cond delay="195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600" fill="hold"/>
                                              <p:tgtEl>
                                                <p:spTgt spid="5"/>
                                              </p:tgtEl>
                                              <p:attrNameLst>
                                                <p:attrName>ppt_w</p:attrName>
                                              </p:attrNameLst>
                                            </p:cBhvr>
                                            <p:tavLst>
                                              <p:tav tm="0">
                                                <p:val>
                                                  <p:strVal val="0"/>
                                                </p:val>
                                              </p:tav>
                                              <p:tav tm="100000">
                                                <p:val>
                                                  <p:strVal val="#ppt_w"/>
                                                </p:val>
                                              </p:tav>
                                            </p:tavLst>
                                          </p:anim>
                                          <p:anim calcmode="lin" valueType="num">
                                            <p:cBhvr additive="base">
                                              <p:cTn id="21" dur="600" fill="hold"/>
                                              <p:tgtEl>
                                                <p:spTgt spid="5"/>
                                              </p:tgtEl>
                                              <p:attrNameLst>
                                                <p:attrName>ppt_h</p:attrName>
                                              </p:attrNameLst>
                                            </p:cBhvr>
                                            <p:tavLst>
                                              <p:tav tm="0">
                                                <p:val>
                                                  <p:strVal val="0"/>
                                                </p:val>
                                              </p:tav>
                                              <p:tav tm="100000">
                                                <p:val>
                                                  <p:strVal val="#ppt_h"/>
                                                </p:val>
                                              </p:tav>
                                            </p:tavLst>
                                          </p:anim>
                                          <p:animEffect transition="in" filter="fade">
                                            <p:cBhvr>
                                              <p:cTn id="22" dur="600"/>
                                              <p:tgtEl>
                                                <p:spTgt spid="5"/>
                                              </p:tgtEl>
                                            </p:cBhvr>
                                          </p:animEffect>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theme1.xml><?xml version="1.0" encoding="utf-8"?>
<a:theme xmlns:a="http://schemas.openxmlformats.org/drawingml/2006/main" name="Construction Routiere">
  <a:themeElements>
    <a:clrScheme name="Construction Routiere">
      <a:dk1>
        <a:srgbClr val="1F2147"/>
      </a:dk1>
      <a:lt1>
        <a:srgbClr val="FFFFFF"/>
      </a:lt1>
      <a:dk2>
        <a:srgbClr val="3A3F5C"/>
      </a:dk2>
      <a:lt2>
        <a:srgbClr val="EEF1F6"/>
      </a:lt2>
      <a:accent1>
        <a:srgbClr val="1F2147"/>
      </a:accent1>
      <a:accent2>
        <a:srgbClr val="7A829A"/>
      </a:accent2>
      <a:accent3>
        <a:srgbClr val="E8A317"/>
      </a:accent3>
      <a:accent4>
        <a:srgbClr val="4F8FBF"/>
      </a:accent4>
      <a:accent5>
        <a:srgbClr val="6B9E4A"/>
      </a:accent5>
      <a:accent6>
        <a:srgbClr val="B5651D"/>
      </a:accent6>
      <a:hlink>
        <a:srgbClr val="1F2147"/>
      </a:hlink>
      <a:folHlink>
        <a:srgbClr val="7A829A"/>
      </a:folHlink>
    </a:clrScheme>
    <a:fontScheme name="Construction Routie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Construction Routière</dc:title>
  <dc:subject>PptxGenJS Presentation</dc:subject>
  <dc:creator>PptxGenJS</dc:creator>
  <cp:lastModifiedBy>PptxGenJS</cp:lastModifiedBy>
  <cp:revision>1</cp:revision>
  <dcterms:created xsi:type="dcterms:W3CDTF">2026-10-05T09:32:32Z</dcterms:created>
  <dcterms:modified xsi:type="dcterms:W3CDTF">2026-10-05T09:32:32Z</dcterms:modified>
</cp:coreProperties>
</file>